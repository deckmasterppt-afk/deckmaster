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0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3847" y="1234440"/>
            <a:ext cx="91440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5400" b="0">
                <a:solidFill>
                  <a:srgbClr val="E040FB"/>
                </a:solidFill>
                <a:latin typeface="Segoe UI"/>
              </a:rPr>
              <a:t>Overview of Machine Learning (ML)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3474720"/>
            <a:ext cx="2743200" cy="36576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Right Triangle 3"/>
          <p:cNvSpPr/>
          <p:nvPr/>
        </p:nvSpPr>
        <p:spPr>
          <a:xfrm rot="10800000">
            <a:off x="0" y="0"/>
            <a:ext cx="1371600" cy="1371600"/>
          </a:xfrm>
          <a:prstGeom prst="rtTriangle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0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E040FB"/>
                </a:solidFill>
                <a:latin typeface="Segoe UI"/>
              </a:rPr>
              <a:t>Historical Development and Milestones in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6264078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800" b="0">
                <a:solidFill>
                  <a:srgbClr val="CE93D8"/>
                </a:solidFill>
                <a:latin typeface="Calibri"/>
              </a:rPr>
              <a:t>• Machine learning traces its roots to the 1950s with early work on chess-playing programs.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800" b="0">
                <a:solidFill>
                  <a:srgbClr val="CE93D8"/>
                </a:solidFill>
                <a:latin typeface="Calibri"/>
              </a:rPr>
              <a:t>• In the mid-1980s, notable achievements included expert systems demonstrating practical applications of machine learning.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800" b="0">
                <a:solidFill>
                  <a:srgbClr val="CE93D8"/>
                </a:solidFill>
                <a:latin typeface="Calibri"/>
              </a:rPr>
              <a:t>• The resurgence began around 1995 when IBM introduced Deep Blue defeating world champion Garry Kasparov in a game of chess.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325880"/>
            <a:ext cx="4474342" cy="5029200"/>
          </a:xfrm>
          <a:prstGeom prst="rect">
            <a:avLst/>
          </a:prstGeom>
        </p:spPr>
      </p:pic>
      <p:sp>
        <p:nvSpPr>
          <p:cNvPr id="5" name="Right Triangle 4"/>
          <p:cNvSpPr/>
          <p:nvPr/>
        </p:nvSpPr>
        <p:spPr>
          <a:xfrm rot="10800000">
            <a:off x="0" y="0"/>
            <a:ext cx="1371600" cy="1371600"/>
          </a:xfrm>
          <a:prstGeom prst="rtTriangle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0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E040FB"/>
                </a:solidFill>
                <a:latin typeface="Segoe UI"/>
              </a:rPr>
              <a:t>Core Concepts and Techniques in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6264078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  <a:defRPr>
                <a:solidFill>
                  <a:srgbClr val="1E1E1E"/>
                </a:solidFill>
              </a:defRPr>
            </a:pPr>
            <a:r>
              <a:rPr sz="1700" b="0">
                <a:solidFill>
                  <a:srgbClr val="CE93D8"/>
                </a:solidFill>
                <a:latin typeface="Calibri"/>
              </a:rPr>
              <a:t>• Statistical learning methods, such as regression analysis, are foundational for understanding machine-learning algorithms.</a:t>
            </a:r>
          </a:p>
          <a:p>
            <a:pPr>
              <a:lnSpc>
                <a:spcPct val="130000"/>
              </a:lnSpc>
              <a:spcAft>
                <a:spcPts val="900"/>
              </a:spcAft>
              <a:defRPr>
                <a:solidFill>
                  <a:srgbClr val="1E1E1E"/>
                </a:solidFill>
              </a:defRPr>
            </a:pPr>
            <a:r>
              <a:rPr sz="1700" b="0">
                <a:solidFill>
                  <a:srgbClr val="CE93D8"/>
                </a:solidFill>
                <a:latin typeface="Calibri"/>
              </a:rPr>
              <a:t>• Key techniques like decision trees have been essential tools since the 1960s to model complex relationships.</a:t>
            </a:r>
          </a:p>
          <a:p>
            <a:pPr>
              <a:lnSpc>
                <a:spcPct val="130000"/>
              </a:lnSpc>
              <a:spcAft>
                <a:spcPts val="900"/>
              </a:spcAft>
              <a:defRPr>
                <a:solidFill>
                  <a:srgbClr val="1E1E1E"/>
                </a:solidFill>
              </a:defRPr>
            </a:pPr>
            <a:r>
              <a:rPr sz="1700" b="0">
                <a:solidFill>
                  <a:srgbClr val="CE93D8"/>
                </a:solidFill>
                <a:latin typeface="Calibri"/>
              </a:rPr>
              <a:t>• Support vector machines (SVM) emerged prominently around 1995 and remain one of today's most effective classification models.</a:t>
            </a:r>
          </a:p>
          <a:p>
            <a:pPr>
              <a:lnSpc>
                <a:spcPct val="130000"/>
              </a:lnSpc>
              <a:spcAft>
                <a:spcPts val="900"/>
              </a:spcAft>
              <a:defRPr>
                <a:solidFill>
                  <a:srgbClr val="1E1E1E"/>
                </a:solidFill>
              </a:defRPr>
            </a:pPr>
            <a:r>
              <a:rPr sz="1700" b="0">
                <a:solidFill>
                  <a:srgbClr val="CE93D8"/>
                </a:solidFill>
                <a:latin typeface="Calibri"/>
              </a:rPr>
              <a:t>• Deep learning has dominated recent advancements, with convolutional neural networks achieving breakthroughs in image recognition tasks.</a:t>
            </a:r>
          </a:p>
          <a:p>
            <a:pPr>
              <a:lnSpc>
                <a:spcPct val="130000"/>
              </a:lnSpc>
              <a:spcAft>
                <a:spcPts val="900"/>
              </a:spcAft>
              <a:defRPr>
                <a:solidFill>
                  <a:srgbClr val="1E1E1E"/>
                </a:solidFill>
              </a:defRPr>
            </a:pPr>
            <a:r>
              <a:rPr sz="1700" b="0">
                <a:solidFill>
                  <a:srgbClr val="CE93D8"/>
                </a:solidFill>
                <a:latin typeface="Calibri"/>
              </a:rPr>
              <a:t>• Mechanistic interpretability focuses on understanding how machine-learning systems make decisions based on underlying physical principles.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325880"/>
            <a:ext cx="4474342" cy="5029200"/>
          </a:xfrm>
          <a:prstGeom prst="rect">
            <a:avLst/>
          </a:prstGeom>
        </p:spPr>
      </p:pic>
      <p:sp>
        <p:nvSpPr>
          <p:cNvPr id="5" name="Right Triangle 4"/>
          <p:cNvSpPr/>
          <p:nvPr/>
        </p:nvSpPr>
        <p:spPr>
          <a:xfrm rot="10800000">
            <a:off x="0" y="0"/>
            <a:ext cx="1371600" cy="1371600"/>
          </a:xfrm>
          <a:prstGeom prst="rtTriangle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0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626407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E040FB"/>
                </a:solidFill>
                <a:latin typeface="Segoe UI"/>
              </a:rPr>
              <a:t>Major Subfields and Applications of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6264078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800" b="0">
                <a:solidFill>
                  <a:srgbClr val="CE93D8"/>
                </a:solidFill>
                <a:latin typeface="Calibri"/>
              </a:rPr>
              <a:t>• Natural language processing (NLP) has revolutionized machine translation, voice recognition systems like Siri.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800" b="0">
                <a:solidFill>
                  <a:srgbClr val="CE93D8"/>
                </a:solidFill>
                <a:latin typeface="Calibri"/>
              </a:rPr>
              <a:t>• Reinforcement learning powers advanced robotics applications for autonomous vehicles navigating complex environments.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800" b="0">
                <a:solidFill>
                  <a:srgbClr val="CE93D8"/>
                </a:solidFill>
                <a:latin typeface="Calibri"/>
              </a:rPr>
              <a:t>• Hybrid intelligent systems integrate rule-based methods with AI to enhance decision-making processes in sectors such as healthcare and finance.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33" y="1325880"/>
            <a:ext cx="4474342" cy="5029200"/>
          </a:xfrm>
          <a:prstGeom prst="rect">
            <a:avLst/>
          </a:prstGeom>
        </p:spPr>
      </p:pic>
      <p:sp>
        <p:nvSpPr>
          <p:cNvPr id="5" name="Right Triangle 4"/>
          <p:cNvSpPr/>
          <p:nvPr/>
        </p:nvSpPr>
        <p:spPr>
          <a:xfrm rot="10800000">
            <a:off x="0" y="0"/>
            <a:ext cx="1371600" cy="1371600"/>
          </a:xfrm>
          <a:prstGeom prst="rtTriangle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0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E040FB"/>
                </a:solidFill>
                <a:latin typeface="Segoe UI"/>
              </a:rPr>
              <a:t>Challenges and Ethical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800" b="0">
                <a:solidFill>
                  <a:srgbClr val="CE93D8"/>
                </a:solidFill>
                <a:latin typeface="Calibri"/>
              </a:rPr>
              <a:t>• The ethical implications of deploying biased algorithms highlight the necessity for fairness-aware machine learning practices.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800" b="0">
                <a:solidFill>
                  <a:srgbClr val="CE93D8"/>
                </a:solidFill>
                <a:latin typeface="Calibri"/>
              </a:rPr>
              <a:t>• Privacy concerns arise from extensive data collection required by deep-learning models, prompting stringent regulations like GDPR.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>
                <a:solidFill>
                  <a:srgbClr val="1E1E1E"/>
                </a:solidFill>
              </a:defRPr>
            </a:pPr>
            <a:r>
              <a:rPr sz="1800" b="0">
                <a:solidFill>
                  <a:srgbClr val="CE93D8"/>
                </a:solidFill>
                <a:latin typeface="Calibri"/>
              </a:rPr>
              <a:t>• Ensuring transparency in AI decision-making processes is crucial to maintain public trust and accountability.</a:t>
            </a:r>
          </a:p>
        </p:txBody>
      </p:sp>
      <p:sp>
        <p:nvSpPr>
          <p:cNvPr id="4" name="Right Triangle 3"/>
          <p:cNvSpPr/>
          <p:nvPr/>
        </p:nvSpPr>
        <p:spPr>
          <a:xfrm rot="10800000">
            <a:off x="0" y="0"/>
            <a:ext cx="1371600" cy="1371600"/>
          </a:xfrm>
          <a:prstGeom prst="rtTriangle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0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3847" y="1920240"/>
            <a:ext cx="91440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6800" b="0">
                <a:solidFill>
                  <a:srgbClr val="E040FB"/>
                </a:solidFill>
                <a:latin typeface="Segoe Script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2847" y="3657600"/>
            <a:ext cx="2286000" cy="36576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981047" y="3886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2000" i="1">
                <a:solidFill>
                  <a:srgbClr val="CE93D8"/>
                </a:solidFill>
                <a:latin typeface="Calibri"/>
              </a:rPr>
              <a:t>We appreciate your time and attention</a:t>
            </a:r>
          </a:p>
        </p:txBody>
      </p:sp>
      <p:sp>
        <p:nvSpPr>
          <p:cNvPr id="5" name="Right Triangle 4"/>
          <p:cNvSpPr/>
          <p:nvPr/>
        </p:nvSpPr>
        <p:spPr>
          <a:xfrm rot="10800000">
            <a:off x="0" y="0"/>
            <a:ext cx="1371600" cy="1371600"/>
          </a:xfrm>
          <a:prstGeom prst="rtTriangle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