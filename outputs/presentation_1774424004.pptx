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3847" y="1234440"/>
            <a:ext cx="91440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5400" b="0">
                <a:solidFill>
                  <a:srgbClr val="FFFFFF"/>
                </a:solidFill>
                <a:latin typeface="Segoe UI"/>
              </a:rPr>
              <a:t>Machine Learning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3474720"/>
            <a:ext cx="2743200" cy="36576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5" name="Right Triangle 4"/>
          <p:cNvSpPr/>
          <p:nvPr/>
        </p:nvSpPr>
        <p:spPr>
          <a:xfrm>
            <a:off x="11277295" y="5943600"/>
            <a:ext cx="914400" cy="914400"/>
          </a:xfrm>
          <a:prstGeom prst="rtTriangl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26407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200" b="1">
                <a:solidFill>
                  <a:srgbClr val="FFFFFF"/>
                </a:solidFill>
                <a:latin typeface="Segoe UI"/>
              </a:rPr>
              <a:t>History and Evolution of Machine Learning (ML)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6264078" cy="5166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  <a:defRPr>
                <a:solidFill>
                  <a:srgbClr val="1E1E1E"/>
                </a:solidFill>
              </a:defRPr>
            </a:pPr>
            <a:r>
              <a:rPr sz="1800" b="0">
                <a:solidFill>
                  <a:srgbClr val="B2DFDB"/>
                </a:solidFill>
                <a:latin typeface="Calibri"/>
              </a:rPr>
              <a:t>• Pioneered by Alan Turing in the 1950s with his theoretical neural networks.</a:t>
            </a:r>
          </a:p>
          <a:p>
            <a:pPr>
              <a:lnSpc>
                <a:spcPct val="130000"/>
              </a:lnSpc>
              <a:spcAft>
                <a:spcPts val="900"/>
              </a:spcAft>
              <a:defRPr>
                <a:solidFill>
                  <a:srgbClr val="1E1E1E"/>
                </a:solidFill>
              </a:defRPr>
            </a:pPr>
            <a:r>
              <a:rPr sz="1800" b="0">
                <a:solidFill>
                  <a:srgbClr val="B2DFDB"/>
                </a:solidFill>
                <a:latin typeface="Calibri"/>
              </a:rPr>
              <a:t>• IBM's Deep Blue defeated chess champion Garry Kasparov, showcasing early ML success in games.</a:t>
            </a:r>
          </a:p>
          <a:p>
            <a:pPr>
              <a:lnSpc>
                <a:spcPct val="130000"/>
              </a:lnSpc>
              <a:spcAft>
                <a:spcPts val="900"/>
              </a:spcAft>
              <a:defRPr>
                <a:solidFill>
                  <a:srgbClr val="1E1E1E"/>
                </a:solidFill>
              </a:defRPr>
            </a:pPr>
            <a:r>
              <a:rPr sz="1800" b="0">
                <a:solidFill>
                  <a:srgbClr val="B2DFDB"/>
                </a:solidFill>
                <a:latin typeface="Calibri"/>
              </a:rPr>
              <a:t>• Invention of backpropagation algorithm revolutionized deep learning capabilities during late '80s and '90s.</a:t>
            </a:r>
          </a:p>
          <a:p>
            <a:pPr>
              <a:lnSpc>
                <a:spcPct val="130000"/>
              </a:lnSpc>
              <a:spcAft>
                <a:spcPts val="900"/>
              </a:spcAft>
              <a:defRPr>
                <a:solidFill>
                  <a:srgbClr val="1E1E1E"/>
                </a:solidFill>
              </a:defRPr>
            </a:pPr>
            <a:r>
              <a:rPr sz="1800" b="0">
                <a:solidFill>
                  <a:srgbClr val="B2DFDB"/>
                </a:solidFill>
                <a:latin typeface="Calibri"/>
              </a:rPr>
              <a:t>• Today’s machine learning algorithms are used across industries for tasks like image recognition, language processing, etc., with applications ranging from healthcare diagnostics to autonomous driving.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33" y="1097280"/>
            <a:ext cx="4474342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6" name="Right Triangle 5"/>
          <p:cNvSpPr/>
          <p:nvPr/>
        </p:nvSpPr>
        <p:spPr>
          <a:xfrm>
            <a:off x="11277295" y="5943600"/>
            <a:ext cx="914400" cy="914400"/>
          </a:xfrm>
          <a:prstGeom prst="rtTriangl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26407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200" b="1">
                <a:solidFill>
                  <a:srgbClr val="FFFFFF"/>
                </a:solidFill>
                <a:latin typeface="Segoe UI"/>
              </a:rPr>
              <a:t>Key Subfields of Machine Learning (ML)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6264078" cy="5166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B2DFDB"/>
                </a:solidFill>
                <a:latin typeface="Calibri"/>
              </a:rPr>
              <a:t>• Supervised learning uses labeled data for training algorithms like SVM and neural networks.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B2DFDB"/>
                </a:solidFill>
                <a:latin typeface="Calibri"/>
              </a:rPr>
              <a:t>• Unsupervised learning finds patterns in unlabeled datasets, such as clustering techniques used by Google Maps to recommend routes.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B2DFDB"/>
                </a:solidFill>
                <a:latin typeface="Calibri"/>
              </a:rPr>
              <a:t>• Reinforcement learning involves agents interacting with environments through trial-and-error methods exemplified by AlphaGo's victory over human champions.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33" y="1097280"/>
            <a:ext cx="4474342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6" name="Right Triangle 5"/>
          <p:cNvSpPr/>
          <p:nvPr/>
        </p:nvSpPr>
        <p:spPr>
          <a:xfrm>
            <a:off x="11277295" y="5943600"/>
            <a:ext cx="914400" cy="914400"/>
          </a:xfrm>
          <a:prstGeom prst="rtTriangl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200" b="1">
                <a:solidFill>
                  <a:srgbClr val="FFFFFF"/>
                </a:solidFill>
                <a:latin typeface="Segoe UI"/>
              </a:rPr>
              <a:t>Fundamental Concepts and Techniques in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85855" cy="5166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B2DFDB"/>
                </a:solidFill>
                <a:latin typeface="Calibri"/>
              </a:rPr>
              <a:t>• Empirical risk minimization (ERM) optimizes model performance based on observed data errors.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B2DFDB"/>
                </a:solidFill>
                <a:latin typeface="Calibri"/>
              </a:rPr>
              <a:t>• Neural networks consist of layers with nodes connected by weighted edges, mimicking human brain structure for complex pattern recognition tasks like speech-to-text conversion.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B2DFDB"/>
                </a:solidFill>
                <a:latin typeface="Calibri"/>
              </a:rPr>
              <a:t>• Support Vector Machines excel in classification problems through margin maximization and kernel tricks that transform feature space into higher dimensions.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5" name="Right Triangle 4"/>
          <p:cNvSpPr/>
          <p:nvPr/>
        </p:nvSpPr>
        <p:spPr>
          <a:xfrm>
            <a:off x="11277295" y="5943600"/>
            <a:ext cx="914400" cy="914400"/>
          </a:xfrm>
          <a:prstGeom prst="rtTriangl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26407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3200" b="1">
                <a:solidFill>
                  <a:srgbClr val="FFFFFF"/>
                </a:solidFill>
                <a:latin typeface="Segoe UI"/>
              </a:rPr>
              <a:t>Challenges and Ethical Considerations of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6264078" cy="5166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B2DFDB"/>
                </a:solidFill>
                <a:latin typeface="Calibri"/>
              </a:rPr>
              <a:t>• Biases present within training data can lead to unfair outcomes, necessitating diverse dataset collection for equitable results.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B2DFDB"/>
                </a:solidFill>
                <a:latin typeface="Calibri"/>
              </a:rPr>
              <a:t>• Privacy concerns arise from extensive use in surveillance systems like facial recognition used by law enforcement agencies globally.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33" y="1097280"/>
            <a:ext cx="4474342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6" name="Right Triangle 5"/>
          <p:cNvSpPr/>
          <p:nvPr/>
        </p:nvSpPr>
        <p:spPr>
          <a:xfrm>
            <a:off x="11277295" y="5943600"/>
            <a:ext cx="914400" cy="914400"/>
          </a:xfrm>
          <a:prstGeom prst="rtTriangl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3847" y="1920240"/>
            <a:ext cx="91440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6800" b="0">
                <a:solidFill>
                  <a:srgbClr val="FFFFFF"/>
                </a:solidFill>
                <a:latin typeface="Segoe Script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2847" y="3657600"/>
            <a:ext cx="2286000" cy="36576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981047" y="3886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2000" i="1">
                <a:solidFill>
                  <a:srgbClr val="B2DFDB"/>
                </a:solidFill>
                <a:latin typeface="Calibri"/>
              </a:rPr>
              <a:t>We appreciate your time and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6" name="Right Triangle 5"/>
          <p:cNvSpPr/>
          <p:nvPr/>
        </p:nvSpPr>
        <p:spPr>
          <a:xfrm>
            <a:off x="11277295" y="5943600"/>
            <a:ext cx="914400" cy="914400"/>
          </a:xfrm>
          <a:prstGeom prst="rtTriangl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