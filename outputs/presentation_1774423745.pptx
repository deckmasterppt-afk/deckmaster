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234440"/>
            <a:ext cx="91440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5400" b="1">
                <a:solidFill>
                  <a:srgbClr val="FFFFFF"/>
                </a:solidFill>
                <a:latin typeface="Calibri"/>
              </a:rPr>
              <a:t>Machine Learning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65176"/>
            <a:ext cx="636649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Historical Development and Milestones in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88136"/>
            <a:ext cx="222827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20040" y="1197864"/>
            <a:ext cx="6366491" cy="5157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CBD5E1"/>
                </a:solidFill>
                <a:latin typeface="Calibri"/>
              </a:rPr>
              <a:t>• In 1959, Arthur Samuel developed the first adaptive learning program for playing checkers.</a:t>
            </a:r>
          </a:p>
          <a:p>
            <a:pPr>
              <a:lnSpc>
                <a:spcPct val="13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CBD5E1"/>
                </a:solidFill>
                <a:latin typeface="Calibri"/>
              </a:rPr>
              <a:t>• The term 'machine learning' was coined by Christopher Bishop during a conference presentation at NIPS (Neural Information Processing Systems) in 1985.</a:t>
            </a:r>
          </a:p>
          <a:p>
            <a:pPr>
              <a:lnSpc>
                <a:spcPct val="13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CBD5E1"/>
                </a:solidFill>
                <a:latin typeface="Calibri"/>
              </a:rPr>
              <a:t>• IBM's Deep Blue defeated world chess champion Garry Kasparov in 1997, showcasing early success of machine learning applications.</a:t>
            </a:r>
          </a:p>
          <a:p>
            <a:pPr>
              <a:lnSpc>
                <a:spcPct val="13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CBD5E1"/>
                </a:solidFill>
                <a:latin typeface="Calibri"/>
              </a:rPr>
              <a:t>• In the late 2000s and beyond, deep neural networks achieved significant breakthroughs with Google Brain’s convolutional network surpassing human performance on ImageNet classification tasks.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281" y="1088136"/>
            <a:ext cx="4547494" cy="52669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65176"/>
            <a:ext cx="636649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Key Algorithms in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88136"/>
            <a:ext cx="222827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20040" y="1197864"/>
            <a:ext cx="6366491" cy="5157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Support Vector Machines (SVM) are widely used for binary and multi-class classification problems due to their robust performance with large datasets.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Artificial Neural Networks, particularly deep learning networks like Convolutional Neural Networks, have revolutionized image recognition tasks by achieving unprecedented accuracy rates in competitions such as ImageNet.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281" y="1088136"/>
            <a:ext cx="4547494" cy="52669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65176"/>
            <a:ext cx="113687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Applications of Machine Learning Across Industries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88136"/>
            <a:ext cx="3979057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20040" y="1197864"/>
            <a:ext cx="11368735" cy="5157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Healthcare: Predictive analytics for patient diagnosis and treatment planning, personalized medicine using genetic data.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Finance: Fraud detection systems that identify unusual transactions in real-time to prevent fraud.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Automotive industry leverages machine learning algorithms like reinforcement learning for autonomous driving applications.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65176"/>
            <a:ext cx="636649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Challenges and Future Directions of Machine Learning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88136"/>
            <a:ext cx="222827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20040" y="1197864"/>
            <a:ext cx="6366491" cy="5157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'Black-box' nature: Difficulty in interpreting complex models, especially deep neural networks.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Data privacy concerns with increasing use of personal data for training machine learning systems necessitating stronger regulations like GDPR (General Data Protection Regulation).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281" y="1088136"/>
            <a:ext cx="4547494" cy="52669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920240"/>
            <a:ext cx="9144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6800" b="0">
                <a:solidFill>
                  <a:srgbClr val="FFFFFF"/>
                </a:solidFill>
                <a:latin typeface="Segoe Script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847" y="365760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981047" y="3886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2000" i="1">
                <a:solidFill>
                  <a:srgbClr val="CBD5E1"/>
                </a:solidFill>
                <a:latin typeface="Calibri"/>
              </a:rPr>
              <a:t>We appreciate your time and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